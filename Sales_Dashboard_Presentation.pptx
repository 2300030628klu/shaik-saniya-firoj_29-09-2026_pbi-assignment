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2545"/>
                </a:solidFill>
                <a:latin typeface="Arial"/>
              </a:rPr>
              <a:t>Share of sales by county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share %</c:v>
                </c:pt>
              </c:strCache>
            </c:strRef>
          </c:tx>
          <c:spPr>
            <a:solidFill>
              <a:srgbClr val="13A89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Los Angeles</c:v>
                  </c:pt>
                  <c:pt idx="1">
                    <c:v>Orange</c:v>
                  </c:pt>
                  <c:pt idx="2">
                    <c:v>San Diego</c:v>
                  </c:pt>
                  <c:pt idx="3">
                    <c:v>San Bernardino</c:v>
                  </c:pt>
                  <c:pt idx="4">
                    <c:v>Riverside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21.9</c:v>
                </c:pt>
                <c:pt idx="1">
                  <c:v>10.1</c:v>
                </c:pt>
                <c:pt idx="2">
                  <c:v>9.6</c:v>
                </c:pt>
                <c:pt idx="3">
                  <c:v>9.4</c:v>
                </c:pt>
                <c:pt idx="4">
                  <c:v>8.1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Power BI dashboard on 10,889 orders. The three numbers are the headline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 steps, then the three data issues. Emphasise that every sales row matches every dimension (100% referential integrity).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Dimensions filter the fact table. Dim_Date is marked as the official date table, with months sorted by month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KPIs are explicit measures. Functions used: CALCULATE, FILTER, ALL, ALLSELECTED, DIVIDE, SUMX, AVERAGEX, DISTINCTCOUNT, DATEADD, SAMEPERIODLASTYEAR, TOTALYTD, RANKX.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pages match the assignment structure. Drill-through pages: Product, Customer, Salesperson, Location.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 salesperson: Kenneth Bradley (678,815 sales, 227,309 profit). Top product by revenue: Product 63; by profit: Product 28. Lowest margins: Product 4 (15%) and Product 95 (16%).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inviting questions. Mention the budget assumption: Revenue in the Budgeting sheet was read as annual budget per location.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Performance, Profitability &amp; Business Intelligence Dashboard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project  |  Sales data 1 Jan 2021 – 15 Mar 2023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370332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16365F"/>
          </a:solidFill>
          <a:ln w="12700">
            <a:solidFill>
              <a:srgbClr val="1636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7490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25.66M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793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51760" y="370332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16365F"/>
          </a:solidFill>
          <a:ln w="12700">
            <a:solidFill>
              <a:srgbClr val="1636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0" y="37490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8.34M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42793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370332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16365F"/>
          </a:solidFill>
          <a:ln w="12700">
            <a:solidFill>
              <a:srgbClr val="1636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37490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32.5%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42793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Data preparation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46304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280160"/>
            <a:ext cx="457200" cy="45720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945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sheets loaded from Excel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57400" y="1143000"/>
            <a:ext cx="146304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1280160"/>
            <a:ext cx="457200" cy="45720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21945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nulls, 0 duplicates in sales; keys checked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0" y="1143000"/>
            <a:ext cx="146304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60520" y="1280160"/>
            <a:ext cx="457200" cy="45720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605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21945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+ 2022 + 2023 = Fact_Sales, 10,889 rows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57800" y="1143000"/>
            <a:ext cx="146304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0" y="1280160"/>
            <a:ext cx="457200" cy="45720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21945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set, columns renamed, unused columns removed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0" y="1143000"/>
            <a:ext cx="146304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0920" y="1280160"/>
            <a:ext cx="457200" cy="45720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609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dims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21945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Location, Customer, Salesperson, Budget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issues found and how they were handled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37033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covers only 1 Jan – 15 Mar, so growth is compared like-for-like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74 locations are in California, so County is used as the region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sheet: 2 tables side by side; 23 budget IDs missing from Locations were excluded; names do not match, so joined on Location ID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Data model: star schema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691640" y="1463040"/>
            <a:ext cx="2880360" cy="1371600"/>
          </a:xfrm>
          <a:prstGeom prst="line">
            <a:avLst/>
          </a:prstGeom>
          <a:noFill/>
          <a:ln w="19050">
            <a:solidFill>
              <a:srgbClr val="9FB3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4572000" y="1325880"/>
            <a:ext cx="0" cy="1508760"/>
          </a:xfrm>
          <a:prstGeom prst="line">
            <a:avLst/>
          </a:prstGeom>
          <a:noFill/>
          <a:ln w="19050">
            <a:solidFill>
              <a:srgbClr val="9FB3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4572000" y="1463040"/>
            <a:ext cx="2880360" cy="1371600"/>
          </a:xfrm>
          <a:prstGeom prst="line">
            <a:avLst/>
          </a:prstGeom>
          <a:noFill/>
          <a:ln w="19050">
            <a:solidFill>
              <a:srgbClr val="9FB3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691640" y="2834640"/>
            <a:ext cx="2880360" cy="1234440"/>
          </a:xfrm>
          <a:prstGeom prst="line">
            <a:avLst/>
          </a:prstGeom>
          <a:noFill/>
          <a:ln w="19050">
            <a:solidFill>
              <a:srgbClr val="9FB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2834640"/>
            <a:ext cx="2880360" cy="1234440"/>
          </a:xfrm>
          <a:prstGeom prst="line">
            <a:avLst/>
          </a:prstGeom>
          <a:noFill/>
          <a:ln w="19050">
            <a:solidFill>
              <a:srgbClr val="9FB3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09728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15875">
            <a:solidFill>
              <a:srgbClr val="13A89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1704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products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96012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15875">
            <a:solidFill>
              <a:srgbClr val="13A89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0332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344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801 customers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09728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15875">
            <a:solidFill>
              <a:srgbClr val="13A89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11704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Dim_Location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locations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15875">
            <a:solidFill>
              <a:srgbClr val="13A89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7764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Dim_Salesperson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087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people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370332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15875">
            <a:solidFill>
              <a:srgbClr val="13A89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09360" y="37764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4087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2021-2023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29000" y="224028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2900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Fact_Sales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2788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10,889 orders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Quantity, Price, IDs, Order Date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617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relationships: one-to-many, single direction. Fact_Budget (Location x Month) links to Dim_Location and Dim_Date.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DAX measures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07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54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Sales, Total Orders, Total Quantity, Average Order Value, Average Selling Price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10972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207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554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Cost, Gross Profit, Gross Margin %, Revenue per Unit, Profit per Unit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207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intelligence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554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Year, YoY Growth %, MTD, YTD, Previous Year YTD, Running Total, 3M Moving Average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8072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154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Budget, Budget Variance, Budget Achievement %, Actual vs Budget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46120" y="26974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83280" y="28072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&amp; Pareto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3154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RANKX, Top N, Contribution %, Pareto cumulative 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26974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72200" y="28072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&amp; formatting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3154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titles, KPI colours, YoY arrows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 </a:t>
            </a:r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row by row, stored (Line Sales, Line Cost, Line Profit).   </a:t>
            </a:r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</a:t>
            </a:r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calculated on demand from the filters (all KPIs).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Dashboard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3F6F9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298448"/>
            <a:ext cx="457200" cy="4572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18872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3F6F9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70048" y="1298448"/>
            <a:ext cx="457200" cy="4572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70048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218688" y="118872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3F6F9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73168" y="1298448"/>
            <a:ext cx="457200" cy="4572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73168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21808" y="118872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66560" y="109728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3F6F9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76288" y="1298448"/>
            <a:ext cx="457200" cy="4572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76288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424928" y="118872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Analysis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14884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3F6F9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2350008"/>
            <a:ext cx="457200" cy="4572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24028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Salesperson Performance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60320" y="214884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3F6F9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70048" y="2350008"/>
            <a:ext cx="457200" cy="4572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670048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218688" y="224028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Analysis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214884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3F6F9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73168" y="2350008"/>
            <a:ext cx="457200" cy="4572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73168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321808" y="224028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58000" y="21488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03720" y="21945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+ 4 drill-through pages and 2 tooltips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Interactivity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Slicers: Year, Month, County, Location, Product, Customer, Salesperson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down: Year &gt; Quarter &gt; Month &gt; Day; Region &gt; Location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Cross-filtering, conditional formatting, KPI arrows, dynamic titles, Top N selector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Key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25.66M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0972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29968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029968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8.34M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202996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(32.5%)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62656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962656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-1.1%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2962656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vs 2021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895344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89534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2.6%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3895344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from top 10 customers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023360" y="1097280"/>
          <a:ext cx="46634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4023360" y="36576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is 32.5% in every year; profit follows sales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period 1 Jan – 15 Mar: 2023 is +3.7% vs 2022, still 2.7% below 2021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barely explains sales (correlation 0.07); LA and San Diego are under-penetrated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74 locations beat budget (373% overall), which points to unrealistic targets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6365F"/>
          </a:solidFill>
          <a:ln w="12700">
            <a:solidFill>
              <a:srgbClr val="1636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8872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1430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low-margin volume products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1430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pricing/cost of Products 84, 66, 4, 37, 63 (15-28% margin)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6365F"/>
          </a:solidFill>
          <a:ln w="12700">
            <a:solidFill>
              <a:srgbClr val="1636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93852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18928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high-margin winners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189280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Products 28, 47, 29, 41, 79, 64 through incentives and bundles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96896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6365F"/>
          </a:solidFill>
          <a:ln w="12700">
            <a:solidFill>
              <a:srgbClr val="1636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688336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688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264261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big under-served cities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264261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LA, San Diego, San Francisco, San Jose, Fresno, Long Beach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346704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6365F"/>
          </a:solidFill>
          <a:ln w="12700">
            <a:solidFill>
              <a:srgbClr val="1636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438144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39242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budget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297680" y="339242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targets on ~11.6M yearly actuals; clean location IDs and names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096512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6365F"/>
          </a:solidFill>
          <a:ln w="12700">
            <a:solidFill>
              <a:srgbClr val="1636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4187952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41422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the sales team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297680" y="4142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Carl Elliott, Larry Castillo, Sean Miller; learn from Carl Hall, Joe Sims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2026-09-28T07:58:38Z</dcterms:created>
  <dcterms:modified xsi:type="dcterms:W3CDTF">2026-09-28T07:58:38Z</dcterms:modified>
</cp:coreProperties>
</file>